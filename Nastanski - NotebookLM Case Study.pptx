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6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bienastanski@outlook.com" userId="871e31d6b46585b2" providerId="LiveId" clId="{F0FE8095-7A0A-4C1C-9D5C-C50F8377B5FC}"/>
    <pc:docChg chg="modSld">
      <pc:chgData name="jobienastanski@outlook.com" userId="871e31d6b46585b2" providerId="LiveId" clId="{F0FE8095-7A0A-4C1C-9D5C-C50F8377B5FC}" dt="2026-10-04T21:04:46.874" v="72" actId="20577"/>
      <pc:docMkLst>
        <pc:docMk/>
      </pc:docMkLst>
      <pc:sldChg chg="modSp mod">
        <pc:chgData name="jobienastanski@outlook.com" userId="871e31d6b46585b2" providerId="LiveId" clId="{F0FE8095-7A0A-4C1C-9D5C-C50F8377B5FC}" dt="2026-10-04T21:04:46.874" v="72" actId="20577"/>
        <pc:sldMkLst>
          <pc:docMk/>
          <pc:sldMk cId="0" sldId="256"/>
        </pc:sldMkLst>
        <pc:spChg chg="mod">
          <ac:chgData name="jobienastanski@outlook.com" userId="871e31d6b46585b2" providerId="LiveId" clId="{F0FE8095-7A0A-4C1C-9D5C-C50F8377B5FC}" dt="2026-10-04T21:01:31.662" v="10" actId="20577"/>
          <ac:spMkLst>
            <pc:docMk/>
            <pc:sldMk cId="0" sldId="256"/>
            <ac:spMk id="52" creationId="{00000000-0000-0000-0000-000000000000}"/>
          </ac:spMkLst>
        </pc:spChg>
        <pc:spChg chg="mod">
          <ac:chgData name="jobienastanski@outlook.com" userId="871e31d6b46585b2" providerId="LiveId" clId="{F0FE8095-7A0A-4C1C-9D5C-C50F8377B5FC}" dt="2026-10-04T21:04:46.874" v="72" actId="20577"/>
          <ac:spMkLst>
            <pc:docMk/>
            <pc:sldMk cId="0" sldId="256"/>
            <ac:spMk id="55" creationId="{00000000-0000-0000-0000-000000000000}"/>
          </ac:spMkLst>
        </pc:spChg>
        <pc:picChg chg="mod">
          <ac:chgData name="jobienastanski@outlook.com" userId="871e31d6b46585b2" providerId="LiveId" clId="{F0FE8095-7A0A-4C1C-9D5C-C50F8377B5FC}" dt="2026-10-04T21:04:35.618" v="62" actId="1076"/>
          <ac:picMkLst>
            <pc:docMk/>
            <pc:sldMk cId="0" sldId="256"/>
            <ac:picMk id="5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5239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3657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93408" y="3657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68896" y="3657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44384" y="3657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19872" y="3657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3657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9601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93408" y="9601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68896" y="9601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44384" y="9601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9601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9601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5544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93408" y="15544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68896" y="15544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44384" y="15544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15544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0" y="15544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14884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93408" y="214884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68896" y="214884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44384" y="214884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9872" y="214884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0" y="214884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74320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93408" y="274320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68896" y="274320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44384" y="274320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19872" y="274320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95360" y="274320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33375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93408" y="33375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68896" y="33375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44384" y="33375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19872" y="33375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95360" y="33375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39319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93408" y="39319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68896" y="39319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44384" y="39319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19872" y="39319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95360" y="39319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45262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93408" y="45262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68896" y="45262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44384" y="45262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19872" y="45262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95360" y="45262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14269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 err="1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</a:t>
            </a:r>
            <a:r>
              <a:rPr lang="en-US" sz="4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Case Study</a:t>
            </a:r>
            <a:endParaRPr lang="en-US" sz="4400" dirty="0"/>
          </a:p>
        </p:txBody>
      </p:sp>
      <p:pic>
        <p:nvPicPr>
          <p:cNvPr id="5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1" y="1259473"/>
            <a:ext cx="2222900" cy="2222900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484632" y="3912951"/>
            <a:ext cx="569716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 Google Workspace-native AI strategy for document intelligence at a hypothetical off-price retailer.</a:t>
            </a:r>
            <a:endParaRPr lang="en-US" sz="2000" dirty="0"/>
          </a:p>
        </p:txBody>
      </p:sp>
      <p:sp>
        <p:nvSpPr>
          <p:cNvPr id="56" name="Text 53"/>
          <p:cNvSpPr/>
          <p:nvPr/>
        </p:nvSpPr>
        <p:spPr>
          <a:xfrm>
            <a:off x="457200" y="45262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Nastanski  ·  Northeastern University AI Applications Certificate  ·  June 2026</a:t>
            </a:r>
            <a:endParaRPr lang="en-US" sz="1100" dirty="0"/>
          </a:p>
        </p:txBody>
      </p:sp>
      <p:pic>
        <p:nvPicPr>
          <p:cNvPr id="5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We're Solving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All For Less, the answer exists — but finding it takes too long.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325880"/>
            <a:ext cx="2633472" cy="338328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325880"/>
            <a:ext cx="2633472" cy="91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490472"/>
            <a:ext cx="411480" cy="411480"/>
          </a:xfrm>
          <a:prstGeom prst="ellipse">
            <a:avLst/>
          </a:prstGeom>
          <a:solidFill>
            <a:srgbClr val="CADCFC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1508760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Team Member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984248"/>
            <a:ext cx="241401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quick answer but doesn't know which document, folder, or system houses it. Hunting through shared drives takes hours. Asking a colleague pulls someone away from their own work.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355848"/>
            <a:ext cx="2414016" cy="27432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29000"/>
            <a:ext cx="2414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questions: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630168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is the return policy for vendor X?"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standard markdown approval process?"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72384" y="1325880"/>
            <a:ext cx="2633472" cy="338328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E8F0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72384" y="1325880"/>
            <a:ext cx="2633472" cy="9144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9544" y="1490472"/>
            <a:ext cx="411480" cy="411480"/>
          </a:xfrm>
          <a:prstGeom prst="ellipse">
            <a:avLst/>
          </a:prstGeom>
          <a:solidFill>
            <a:srgbClr val="E8F0FE">
              <a:alpha val="80000"/>
            </a:srgbClr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9544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≠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12464" y="1508760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Experienced Associate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82112" y="1984248"/>
            <a:ext cx="241401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answer exists but can't recall the specific document — especially for infrequent, edge-case situations. The information is too specialized to keep top-of-mind across hundreds of SKUs, vendors, and policies.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82112" y="3355848"/>
            <a:ext cx="2414016" cy="27432"/>
          </a:xfrm>
          <a:prstGeom prst="rect">
            <a:avLst/>
          </a:prstGeom>
          <a:solidFill>
            <a:srgbClr val="E8F0FE">
              <a:alpha val="50000"/>
            </a:srgbClr>
          </a:solidFill>
          <a:ln w="12700">
            <a:solidFill>
              <a:srgbClr val="E8F0FE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2112" y="3429000"/>
            <a:ext cx="2414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questions: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82112" y="3630168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were the freight terms on the Q2 closeout deal?"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82112" y="3977640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spec sheet covers the seasonal packaging requirements?"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97296" y="1325880"/>
            <a:ext cx="2633472" cy="338328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97296" y="1325880"/>
            <a:ext cx="2633472" cy="914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34456" y="1490472"/>
            <a:ext cx="411480" cy="411480"/>
          </a:xfrm>
          <a:prstGeom prst="ellipse">
            <a:avLst/>
          </a:prstGeom>
          <a:solidFill>
            <a:srgbClr val="D1D5DB">
              <a:alpha val="8000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34456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37376" y="1508760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or Buyer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07024" y="1984248"/>
            <a:ext cx="241401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rolled-up summary or overview across a large body of documents — not one specific answer, but a synthesized picture drawn from many sources at once.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07024" y="3355848"/>
            <a:ext cx="2414016" cy="27432"/>
          </a:xfrm>
          <a:prstGeom prst="rect">
            <a:avLst/>
          </a:prstGeom>
          <a:solidFill>
            <a:srgbClr val="D1D5DB">
              <a:alpha val="50000"/>
            </a:srgbClr>
          </a:solidFill>
          <a:ln w="12700">
            <a:solidFill>
              <a:srgbClr val="D1D5DB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07024" y="3429000"/>
            <a:ext cx="2414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questions: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07024" y="3630168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what buyers purchased in the last 12 months"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07024" y="3977640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me an overview of our open PRDs and product specs"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07024" y="4325112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our finance outputs say about Q3 margin trends?"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7472" y="4626864"/>
            <a:ext cx="7818120" cy="347472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2686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is not just time — it’s missed deals, delayed decisions, and knowledge locked inside documents no one can find fast enough.</a:t>
            </a:r>
            <a:endParaRPr lang="en-US" sz="1050" dirty="0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Has This not Been a Problem Before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651760" cy="1097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618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19933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Locations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3042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28 states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51560"/>
            <a:ext cx="2651760" cy="10972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2618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46120" y="19933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MSRP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23042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savings vs. retail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05156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051560"/>
            <a:ext cx="2651760" cy="10972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2618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 IT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080760" y="19933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23042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counts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566160"/>
            <a:ext cx="7589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566160"/>
            <a:ext cx="91440" cy="1280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30168"/>
            <a:ext cx="7223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 Less is an off-price retailer competing on value. We compete by buying excess inventory, overruns, and closeouts from top brands and passing savings directly to customers. </a:t>
            </a:r>
            <a:r>
              <a:rPr lang="en-US" sz="1300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model thrives on operational efficiency and low overhead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Technology investments are evaluated strictly on ROI before any dollar is committed.</a:t>
            </a:r>
            <a:endParaRPr lang="en-US" sz="13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Google NotebookLM?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AI research assistant from Google, powered by Gemini. (Renamed Gemini Notebook in July 2026.)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937760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856232"/>
            <a:ext cx="438912" cy="43891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8562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6733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98424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PDFs, reports, or other documents and ask questions in plain English. Instant answers from your own documents.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79192"/>
            <a:ext cx="4937760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2935224"/>
            <a:ext cx="438912" cy="43891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9352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275234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Overviews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30632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uploaded content into a podcast-style audio summary — great for managers on the go.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58184"/>
            <a:ext cx="4937760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4014216"/>
            <a:ext cx="438912" cy="43891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014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383133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Source-Grounded Answers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4142232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is tied to your source documents only. No hallucinations from outside data.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23560" y="1143000"/>
            <a:ext cx="3200400" cy="3840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6440" y="132588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</a:t>
            </a: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graduated from Google Labs to a full Google product in 2024 and is one of the most genuinely useful free AI tools available.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23560" y="3246120"/>
            <a:ext cx="32004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3840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 infrastructure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</a:t>
            </a:r>
            <a:endParaRPr lang="en-US" sz="14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Google Positions NotebookLM for Business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926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Google Workspace &amp; Google Labs Official Documentation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92608" y="128016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280160"/>
            <a:ext cx="20116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280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Strategy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</a:t>
            </a:r>
            <a:r>
              <a:rPr lang="en-US" sz="950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reports, market analyses, and internal strategy docs.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Ask it to create executive summaries, extract metrics, and identify strategic implications.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3218688"/>
            <a:ext cx="1865376" cy="27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29184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All For Less: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3511296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reports, margin analyses, seasonal trend docs, vendor financial summaries.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41448" y="128016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41448" y="1280160"/>
            <a:ext cx="2011680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41448" y="1280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166420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Training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14600" y="1993392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training </a:t>
            </a:r>
            <a:r>
              <a:rPr lang="en-US" sz="950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manuals, guides, policy docs, and FAQs</a:t>
            </a:r>
            <a:r>
              <a:rPr lang="en-US" sz="9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 find answers buried in lengthy documents and get cited step-by-step responses.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14600" y="3218688"/>
            <a:ext cx="1865376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329184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All For Less: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14600" y="3511296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SOPs, HR policies, markdown procedures, new buyer orientation materials.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90288" y="128016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90288" y="1280160"/>
            <a:ext cx="20116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1280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▲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166420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Enablement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1993392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</a:t>
            </a:r>
            <a:r>
              <a:rPr lang="en-US" sz="950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specs and market research.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create tailored meeting plans and answer product questions for more confident buyer conversations.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218688"/>
            <a:ext cx="1865376" cy="27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29184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All For Less: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3511296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agreements, product specs, closeout deal terms, PRDs for merchandise buyers.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39128" y="128016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39128" y="1280160"/>
            <a:ext cx="2011680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39128" y="1280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⊕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12280" y="166420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Analysis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12280" y="1993392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key findings, identify trends, and compare approaches — all with per-sentence citations you can verify in one click.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12280" y="3218688"/>
            <a:ext cx="1865376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329184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All For Less: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12280" y="3511296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pricing research, trend reports, merchandise and category performance reviews.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92608" y="4663440"/>
            <a:ext cx="8558784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46634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Customer Proof: Rivian moves from technical docs to creative planning in minutes. Sonata Design reduced product inquiry time with a NotebookLM knowledge base.</a:t>
            </a:r>
            <a:endParaRPr lang="en-US" sz="950" dirty="0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Free vs. Enterprise — Data Privacy &amp; Leakage Risk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2606040" cy="438912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8755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0" y="987552"/>
            <a:ext cx="2743200" cy="438912"/>
          </a:xfrm>
          <a:prstGeom prst="rect">
            <a:avLst/>
          </a:prstGeom>
          <a:solidFill>
            <a:srgbClr val="FFF3F3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98755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(Standard)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Data Leakage Risk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15000" y="987552"/>
            <a:ext cx="315468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987552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(Google Cloud)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Recommended for Sensitive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81328"/>
            <a:ext cx="260604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508760"/>
            <a:ext cx="24688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1481328"/>
            <a:ext cx="274320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1508760"/>
            <a:ext cx="260604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Google account only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715000" y="1481328"/>
            <a:ext cx="315468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88152" y="1508760"/>
            <a:ext cx="30175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~$9/license/mo </a:t>
            </a: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Google Cloud (15-license minimum). Also included in many Google Workspace plans.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1815084"/>
            <a:ext cx="260604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842516"/>
            <a:ext cx="24688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 for Training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1815084"/>
            <a:ext cx="2743200" cy="333756"/>
          </a:xfrm>
          <a:prstGeom prst="rect">
            <a:avLst/>
          </a:prstGeom>
          <a:solidFill>
            <a:srgbClr val="FFF8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99232" y="1842516"/>
            <a:ext cx="260604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Data MAY be used to improve Google products. Uploaded vendor docs could inform Google’s models.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15000" y="1815084"/>
            <a:ext cx="3154680" cy="333756"/>
          </a:xfrm>
          <a:prstGeom prst="rect">
            <a:avLst/>
          </a:prstGeom>
          <a:solidFill>
            <a:srgbClr val="F0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88152" y="1842516"/>
            <a:ext cx="30175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Data is NEVER used for model training. Contractual guarantee via Data Processing Agreement (DPA).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2148840"/>
            <a:ext cx="260604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176272"/>
            <a:ext cx="24688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Risk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26080" y="2148840"/>
            <a:ext cx="2743200" cy="333756"/>
          </a:xfrm>
          <a:prstGeom prst="rect">
            <a:avLst/>
          </a:prstGeom>
          <a:solidFill>
            <a:srgbClr val="FFF0F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9232" y="2176272"/>
            <a:ext cx="260604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HIGH risk for confidential docs. Vendor pricing, supplier terms, and trade data should NOT be uploaded.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715000" y="2148840"/>
            <a:ext cx="3154680" cy="333756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2176272"/>
            <a:ext cx="30175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LOW risk. Enterprise data governance, strict access controls, and legal DPA protections in place.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2482596"/>
            <a:ext cx="260604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510028"/>
            <a:ext cx="24688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0" y="2482596"/>
            <a:ext cx="2743200" cy="333756"/>
          </a:xfrm>
          <a:prstGeom prst="rect">
            <a:avLst/>
          </a:prstGeom>
          <a:solidFill>
            <a:srgbClr val="FFF8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9232" y="2510028"/>
            <a:ext cx="260604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Standard Google account security only. No VPC, no audit logs, no admin visibility.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15000" y="2482596"/>
            <a:ext cx="3154680" cy="333756"/>
          </a:xfrm>
          <a:prstGeom prst="rect">
            <a:avLst/>
          </a:prstGeom>
          <a:solidFill>
            <a:srgbClr val="F0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2510028"/>
            <a:ext cx="30175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VPC Service Controls, IAM role-based access, audit logging, and admin dashboards.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2816352"/>
            <a:ext cx="260604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2843784"/>
            <a:ext cx="24688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0" y="2816352"/>
            <a:ext cx="2743200" cy="333756"/>
          </a:xfrm>
          <a:prstGeom prst="rect">
            <a:avLst/>
          </a:prstGeom>
          <a:solidFill>
            <a:srgbClr val="FFF0F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99232" y="2843784"/>
            <a:ext cx="260604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formal compliance certifications. Not suitable for regulated data environments.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715000" y="2816352"/>
            <a:ext cx="3154680" cy="333756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843784"/>
            <a:ext cx="30175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Meets enterprise compliance standards. Data residency controls available.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3150108"/>
            <a:ext cx="260604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3177540"/>
            <a:ext cx="24688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926080" y="3150108"/>
            <a:ext cx="274320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99232" y="3177540"/>
            <a:ext cx="260604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use only — no team sharing or admin controls.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715000" y="3150108"/>
            <a:ext cx="315468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88152" y="3177540"/>
            <a:ext cx="30175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team sharing via IAM roles. IT can control who accesses which notebooks.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3483864"/>
            <a:ext cx="260604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3511296"/>
            <a:ext cx="24688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/ Limits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926080" y="3483864"/>
            <a:ext cx="274320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99232" y="3511296"/>
            <a:ext cx="260604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caps on queries &amp; notebooks.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715000" y="3483864"/>
            <a:ext cx="315468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88152" y="3511296"/>
            <a:ext cx="30175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higher usage capacity &amp; larger upload limits.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4320" y="3817620"/>
            <a:ext cx="260604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3845052"/>
            <a:ext cx="24688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Types Supported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926080" y="3817620"/>
            <a:ext cx="274320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99232" y="3845052"/>
            <a:ext cx="260604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Google Docs, URLs, plain text.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715000" y="3817620"/>
            <a:ext cx="315468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88152" y="3845052"/>
            <a:ext cx="30175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DOCX, PPTX, XLSX (full Microsoft Office support).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74320" y="4151376"/>
            <a:ext cx="260604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" y="4178808"/>
            <a:ext cx="24688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926080" y="4151376"/>
            <a:ext cx="274320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99232" y="4178808"/>
            <a:ext cx="260604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support only. No SLA.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715000" y="4151376"/>
            <a:ext cx="315468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88152" y="4178808"/>
            <a:ext cx="30175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enterprise support with formal SLAs.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74320" y="4521708"/>
            <a:ext cx="8595360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" y="4521708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for All For Less: Use FREE for non-sensitive pilot documents only. Upload vendor pricing, supplier contracts, or trade data ONLY on Enterprise with DPA in place.</a:t>
            </a:r>
            <a:endParaRPr lang="en-US" sz="1000" dirty="0"/>
          </a:p>
        </p:txBody>
      </p:sp>
      <p:pic>
        <p:nvPicPr>
          <p:cNvPr id="6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NotebookLM? Comparing Document AI Tools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10312" y="960120"/>
            <a:ext cx="1417320" cy="45720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98755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645920" y="987552"/>
            <a:ext cx="1536192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987552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NotebookLM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Recommended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9544" y="987552"/>
            <a:ext cx="1536192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9544" y="987552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Projects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Agent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73168" y="987552"/>
            <a:ext cx="1536192" cy="4572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87552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Search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336792" y="987552"/>
            <a:ext cx="1536192" cy="457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987552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(Copilot Notebooks)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1168" y="1444752"/>
            <a:ext cx="1417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1472184"/>
            <a:ext cx="13441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45920" y="1444752"/>
            <a:ext cx="1536192" cy="448056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1472184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~$9/user/mo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09544" y="1444752"/>
            <a:ext cx="1536192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55264" y="1472184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$20–30/user/mo each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773168" y="1444752"/>
            <a:ext cx="1536192" cy="44805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1472184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~$45–50+/user/mo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 min contract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336792" y="1444752"/>
            <a:ext cx="1536192" cy="448056"/>
          </a:xfrm>
          <a:prstGeom prst="rect">
            <a:avLst/>
          </a:prstGeom>
          <a:solidFill>
            <a:srgbClr val="EBF4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1472184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$30/user/mo (Enterprise) or $18/user/mo (Business, &lt;300 users). Needs M365 license.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01168" y="1892808"/>
            <a:ext cx="1417320" cy="4480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" y="1920240"/>
            <a:ext cx="13441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Grounding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0" y="1892808"/>
            <a:ext cx="1536192" cy="448056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192024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RAG — ONLY your uploaded docs. Zero outside data.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9544" y="1892808"/>
            <a:ext cx="1536192" cy="4480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55264" y="192024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files + broad training knowledge. Harder to audit.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73168" y="1892808"/>
            <a:ext cx="1536192" cy="4480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192024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across all connected apps. Respects access permissions.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336792" y="1892808"/>
            <a:ext cx="1536192" cy="448056"/>
          </a:xfrm>
          <a:prstGeom prst="rect">
            <a:avLst/>
          </a:prstGeom>
          <a:solidFill>
            <a:srgbClr val="F0F8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192024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SharePoint, Teams, OneDrive, Outlook. M365-scoped.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01168" y="2340864"/>
            <a:ext cx="1417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" y="2368296"/>
            <a:ext cx="13441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645920" y="2340864"/>
            <a:ext cx="1536192" cy="448056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91640" y="2368296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Per-sentence citations. Every claim traceable.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209544" y="2340864"/>
            <a:ext cx="1536192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55264" y="2368296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reference uploads without pinpointing location.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73168" y="2340864"/>
            <a:ext cx="1536192" cy="44805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2368296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indexed sources. Strong multi-tool attribution.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336792" y="2340864"/>
            <a:ext cx="1536192" cy="448056"/>
          </a:xfrm>
          <a:prstGeom prst="rect">
            <a:avLst/>
          </a:prstGeom>
          <a:solidFill>
            <a:srgbClr val="EBF4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2368296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SharePoint documents. Strong within M365 ecosystem.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01168" y="2788920"/>
            <a:ext cx="1417320" cy="4480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6888" y="2816352"/>
            <a:ext cx="13441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Leakage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645920" y="2788920"/>
            <a:ext cx="1536192" cy="448056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91640" y="2816352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⚠: may train Google models. ENTERPRISE ✅: DPA + no training.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209544" y="2788920"/>
            <a:ext cx="1536192" cy="4480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55264" y="2816352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plans: no training, DPA available. Consumer plans vary.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773168" y="2788920"/>
            <a:ext cx="1536192" cy="4480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18888" y="2816352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 storage, no training. Data removed post-query. DPA available.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336792" y="2788920"/>
            <a:ext cx="1536192" cy="448056"/>
          </a:xfrm>
          <a:prstGeom prst="rect">
            <a:avLst/>
          </a:prstGeom>
          <a:solidFill>
            <a:srgbClr val="F0F8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2512" y="2816352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Enterprise-grade. Data stays in M365 tenant. GDPR/SOC2 compliant.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01168" y="3236976"/>
            <a:ext cx="1417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6888" y="3264408"/>
            <a:ext cx="13441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645920" y="3236976"/>
            <a:ext cx="1536192" cy="448056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91640" y="3264408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upload: PDFs, Docs, URLs, audio.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209544" y="3236976"/>
            <a:ext cx="1536192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55264" y="3264408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per project. Claude 200MB / ChatGPT generous.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773168" y="3236976"/>
            <a:ext cx="1536192" cy="44805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18888" y="3264408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live connectors: Slack, Jira, Salesforce &amp; more.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336792" y="3236976"/>
            <a:ext cx="1536192" cy="448056"/>
          </a:xfrm>
          <a:prstGeom prst="rect">
            <a:avLst/>
          </a:prstGeom>
          <a:solidFill>
            <a:srgbClr val="EBF4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82512" y="3264408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Native: SharePoint, Teams, OneDrive, Outlook, Loop.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01168" y="3685032"/>
            <a:ext cx="1417320" cy="4480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6888" y="3712464"/>
            <a:ext cx="13441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Overviews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645920" y="3685032"/>
            <a:ext cx="1536192" cy="448056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691640" y="3712464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Industry-leading. Natural podcast-style.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209544" y="3685032"/>
            <a:ext cx="1536192" cy="4480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55264" y="3712464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available.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773168" y="3685032"/>
            <a:ext cx="1536192" cy="4480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18888" y="3712464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available.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336792" y="3685032"/>
            <a:ext cx="1536192" cy="448056"/>
          </a:xfrm>
          <a:prstGeom prst="rect">
            <a:avLst/>
          </a:prstGeom>
          <a:solidFill>
            <a:srgbClr val="F0F8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82512" y="3712464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Copilot Notebooks. Newer, still maturing.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01168" y="4133088"/>
            <a:ext cx="1417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46888" y="4160520"/>
            <a:ext cx="13441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for All For Less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645920" y="4133088"/>
            <a:ext cx="1536192" cy="448056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691640" y="416052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docs, SOPs, policy — strict citable answers. Free.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209544" y="4133088"/>
            <a:ext cx="1536192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55264" y="416052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reasoning &amp; strategy. Great complement.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773168" y="4133088"/>
            <a:ext cx="1536192" cy="44805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18888" y="416052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— needs 100+ enterprise SaaS tools.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336792" y="4133088"/>
            <a:ext cx="1536192" cy="448056"/>
          </a:xfrm>
          <a:prstGeom prst="rect">
            <a:avLst/>
          </a:prstGeom>
          <a:solidFill>
            <a:srgbClr val="EBF4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82512" y="416052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fit — All For Less is on Google Workspace, not M365. Would mean a second ecosystem.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201168" y="4617720"/>
            <a:ext cx="8741664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10896" y="46177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All For Less runs on Google Workspace, so NotebookLM is the natural fit — documents already live in Google Drive. </a:t>
            </a:r>
            <a:endParaRPr lang="en-US" sz="950" dirty="0"/>
          </a:p>
        </p:txBody>
      </p:sp>
      <p:pic>
        <p:nvPicPr>
          <p:cNvPr id="8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18">
            <a:extLst>
              <a:ext uri="{FF2B5EF4-FFF2-40B4-BE49-F238E27FC236}">
                <a16:creationId xmlns:a16="http://schemas.microsoft.com/office/drawing/2014/main" id="{31531D85-2E70-DE17-39CA-B2FBD594658E}"/>
              </a:ext>
            </a:extLst>
          </p:cNvPr>
          <p:cNvSpPr/>
          <p:nvPr/>
        </p:nvSpPr>
        <p:spPr>
          <a:xfrm>
            <a:off x="2459736" y="1837944"/>
            <a:ext cx="3017520" cy="411480"/>
          </a:xfrm>
          <a:prstGeom prst="rect">
            <a:avLst/>
          </a:prstGeom>
          <a:solidFill>
            <a:srgbClr val="F0FF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vs. Copilot Notebooks — Why the Google Path Is Right for All For Less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87552"/>
            <a:ext cx="2194560" cy="438912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87552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59736" y="987552"/>
            <a:ext cx="301752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59736" y="987552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NotebookLM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(Enterprise)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13832" y="987552"/>
            <a:ext cx="3017520" cy="43891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13832" y="987552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Notebooks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(M365 Copilot — $18-30/user/mo)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426464"/>
            <a:ext cx="2194560" cy="41148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" y="146304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59736" y="1426464"/>
            <a:ext cx="3017520" cy="41148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45389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Enterprise ~$9/license/mo via Google Cloud.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513832" y="1426464"/>
            <a:ext cx="3017520" cy="411480"/>
          </a:xfrm>
          <a:prstGeom prst="rect">
            <a:avLst/>
          </a:prstGeom>
          <a:solidFill>
            <a:srgbClr val="EBF4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68696" y="145389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$30/user/mo (Enterprise) or $18/user/mo (Business, &lt;300 users). ⚠ Requires M365 license.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1837944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" y="187452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14600" y="186537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✅: DPA, no training use, VPC/IAM.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13832" y="1837944"/>
            <a:ext cx="3017520" cy="411480"/>
          </a:xfrm>
          <a:prstGeom prst="rect">
            <a:avLst/>
          </a:prstGeom>
          <a:solidFill>
            <a:srgbClr val="F0FF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68696" y="186537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Microsoft does NOT use M365 Copilot data to train foundation LLMs.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2249424"/>
            <a:ext cx="2194560" cy="41148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" y="228600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Our Ecosystem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59736" y="2249424"/>
            <a:ext cx="3017520" cy="41148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227685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NATIVE to Google Workspace. Our Docs, Sheets &amp; Drive files are already here. No new platform.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13832" y="2249424"/>
            <a:ext cx="3017520" cy="411480"/>
          </a:xfrm>
          <a:prstGeom prst="rect">
            <a:avLst/>
          </a:prstGeom>
          <a:solidFill>
            <a:srgbClr val="EBF4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68696" y="227685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Built for Microsoft 365. All For Less is a Google Workspace shop — would mean a second ecosystem.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2660904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" y="269748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Grounding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59736" y="2660904"/>
            <a:ext cx="301752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4600" y="268833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Strict RAG — answers ONLY from your selected sources. Zero outside data.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13832" y="2660904"/>
            <a:ext cx="3017520" cy="411480"/>
          </a:xfrm>
          <a:prstGeom prst="rect">
            <a:avLst/>
          </a:prstGeom>
          <a:solidFill>
            <a:srgbClr val="F0F8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68696" y="268833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Notebook mode: grounded in referenced files. Can also access broader M365 knowledge.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3072384"/>
            <a:ext cx="2194560" cy="41148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" y="310896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Overviews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459736" y="3072384"/>
            <a:ext cx="3017520" cy="41148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309981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Industry-leading. Natural, conversational podcast-style. Supports many file types.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13832" y="3072384"/>
            <a:ext cx="3017520" cy="411480"/>
          </a:xfrm>
          <a:prstGeom prst="rect">
            <a:avLst/>
          </a:prstGeom>
          <a:solidFill>
            <a:srgbClr val="EBF4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68696" y="309981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Now available. Supports Word, PowerPoint, OneNote, PDF. Newer — still maturing vs. NotebookLM.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3483864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464" y="352044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459736" y="3483864"/>
            <a:ext cx="301752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351129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Per-sentence citations tied to exact source. Every claim is fully traceable.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513832" y="3483864"/>
            <a:ext cx="3017520" cy="411480"/>
          </a:xfrm>
          <a:prstGeom prst="rect">
            <a:avLst/>
          </a:prstGeom>
          <a:solidFill>
            <a:srgbClr val="F0F8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68696" y="351129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Cites documents but may supplement with broader M365 knowledge. Less granular.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28600" y="3895344"/>
            <a:ext cx="2194560" cy="41148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3464" y="393192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459736" y="3895344"/>
            <a:ext cx="3017520" cy="41148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14600" y="392277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Google Docs, Sheets, Slides, PDF, URLs. Enterprise adds DOCX, PPTX, XLSX.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513832" y="3895344"/>
            <a:ext cx="3017520" cy="411480"/>
          </a:xfrm>
          <a:prstGeom prst="rect">
            <a:avLst/>
          </a:prstGeom>
          <a:solidFill>
            <a:srgbClr val="EBF4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68696" y="392277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DOCX, PPTX, XLSX, PDF, Loop, OneNote pages. First 20 reference files used for grounding.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28600" y="4306824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3464" y="434340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at AFL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459736" y="4306824"/>
            <a:ext cx="301752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14600" y="433425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The fit. Enterprise for vendor docs, SOPs, finance &amp; buyer reports.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513832" y="4306824"/>
            <a:ext cx="3017520" cy="411480"/>
          </a:xfrm>
          <a:prstGeom prst="rect">
            <a:avLst/>
          </a:prstGeom>
          <a:solidFill>
            <a:srgbClr val="F0F8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68696" y="433425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Strong tool, wrong ecosystem for us. Only makes sense if AFL migrated to Microsoft 365.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28600" y="4754880"/>
            <a:ext cx="868680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8328" y="4754880"/>
            <a:ext cx="8366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All For Less runs on Google Workspace, so NotebookLM is the natural home — our documents already live in Google Drive. Start free, graduate to NotebookLM Enterprise for DPA-grade security. Copilot was considered but means a second ecosystem.</a:t>
            </a:r>
            <a:endParaRPr lang="en-US" sz="1000" dirty="0"/>
          </a:p>
        </p:txBody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Strengths — Why It’s the Right Starting Point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7764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Notes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481328"/>
            <a:ext cx="3703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architecture: answers grounded only in uploaded docs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3.5 — Google’s current model generation (June 2026)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PDF, Google Docs, URLs, and plain text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API-free deployment — no integration work required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Overview generation: summarizes docs in minutes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92040" y="1005840"/>
            <a:ext cx="3977640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0584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Notes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65407" y="1403604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481328"/>
            <a:ext cx="3703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instantly query vendor agreements &amp; pricing sheets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managers summarize corporate policy docs on demand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content auto-converted to audio for warehouse staff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&amp; seasonal trend reports searchable in seconds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4343400"/>
            <a:ext cx="7863840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4343400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No servers. No integration work. No dev team required. Just upload a document and start asking questions.</a:t>
            </a:r>
            <a:endParaRPr lang="en-US" sz="13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Challenges, Drawbacks &amp; Scalability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319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DRAWBACKS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88909"/>
            <a:ext cx="3931920" cy="68580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534629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Fast-Moving Product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" y="1781517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updates features, limits, and pricing often. Re-check terms before each phase.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57005"/>
            <a:ext cx="3931920" cy="68580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302725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" y="2549613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answers from uploaded documents. Will not pull live inventory or POS data without manual exports.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25101"/>
            <a:ext cx="3931920" cy="68580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3070821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Adoption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" y="3317709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non-tech staff may need light training to trust and use AI-generated summaries effectively.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4114800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058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PATH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481328"/>
            <a:ext cx="4114800" cy="68580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2896" y="152704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Now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82896" y="177393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5–10 buyers uploading vendor deal sheets. Measure time saved per week.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249424"/>
            <a:ext cx="4114800" cy="68580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229514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3 Months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82896" y="254203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store managers for SOP lookups. Create shared notebooks per region.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017520"/>
            <a:ext cx="4114800" cy="68580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30632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6 Months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82896" y="331012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Allow access to other user groups in the corporate office, such as Finance.</a:t>
            </a:r>
            <a:endParaRPr lang="en-US" sz="10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Ethics, Bias &amp; Stakeholder Feedback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931920" cy="374904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91440" cy="3749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&amp; Bias Considerations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contracts and pricing data are confidential. Never upload PII or supplier terms.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6151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Bias Risk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89504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source documents contain biased language, NotebookLM will reflect it. Human review of all AI outputs is essential.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93192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clearly with staff: AI is summarizing, not deciding. Cite source documents in all decisions.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114800" cy="3749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51560"/>
            <a:ext cx="91440" cy="3749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115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&amp; Engagement Strategy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15727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1–2: Pulse Survey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1828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5-question survey to pilot users: time saved, confidence in AI outputs, adoption barriers.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2377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1: Exec Debrief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6334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ROI metrics: cost avoidance, hours saved, fewer document-search requests.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31821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Quarterly Review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43814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and business leads review data incidents, governance, and readiness to scale.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39867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Continuously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42428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organized source documents = better AI answers. Improve notebooks from survey feedback.</a:t>
            </a:r>
            <a:endParaRPr lang="en-US" sz="10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3657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3657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3657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3657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3657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3657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9601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9601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9601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9601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9601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9601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15544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15544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15544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15544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5544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15544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214884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214884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214884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214884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214884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0" y="214884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74320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274320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274320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0" y="274320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274320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0" y="274320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3375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33375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0880" y="33375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0" y="33375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38160" y="33375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0" y="33375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0" y="39319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92240" y="39319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40880" y="39319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89520" y="39319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38160" y="39319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86800" y="39319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45262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92240" y="45262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40880" y="45262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89520" y="45262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38160" y="45262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86800" y="45262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572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Bottom Line</a:t>
            </a:r>
            <a:endParaRPr lang="en-US" sz="4200" dirty="0"/>
          </a:p>
        </p:txBody>
      </p:sp>
      <p:sp>
        <p:nvSpPr>
          <p:cNvPr id="52" name="Text 50"/>
          <p:cNvSpPr/>
          <p:nvPr/>
        </p:nvSpPr>
        <p:spPr>
          <a:xfrm>
            <a:off x="411480" y="123444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 Less runs on Google Workspace. That makes the answer clear: NotebookLM is not just the right starting point — it is the right long-term home. Here is how we get there.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11480" y="2286000"/>
            <a:ext cx="5943600" cy="62179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1480" y="2286000"/>
            <a:ext cx="91440" cy="62179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" y="2350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21792" y="260604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5–10 buyers. Zero IT setup. Measure the time saved in week one.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11480" y="3035808"/>
            <a:ext cx="5943600" cy="62179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1480" y="3035808"/>
            <a:ext cx="91440" cy="62179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1792" y="30998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Add More Users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21792" y="33558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Enterprise ($9/license/mo, 15-license min.) adds DPA, no-training guarantee, VPC/IAM security. Native to Google Drive.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11480" y="3785616"/>
            <a:ext cx="5943600" cy="62179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1480" y="3785616"/>
            <a:ext cx="91440" cy="62179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1792" y="38496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one ecosystem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21792" y="410565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docs live in Google Workspace. NotebookLM Enterprise queries them natively — no manual uploads, no second platform.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11480" y="46634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200" dirty="0"/>
          </a:p>
        </p:txBody>
      </p:sp>
      <p:pic>
        <p:nvPicPr>
          <p:cNvPr id="6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2281</Words>
  <Application>Microsoft Office PowerPoint</Application>
  <PresentationFormat>On-screen Show (16:9)</PresentationFormat>
  <Paragraphs>250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NotebookLM at All For Less</dc:title>
  <dc:subject>PptxGenJS Presentation</dc:subject>
  <dc:creator>Joseph Nastanski</dc:creator>
  <cp:lastModifiedBy>jobienastanski@outlook.com</cp:lastModifiedBy>
  <cp:revision>2</cp:revision>
  <dcterms:created xsi:type="dcterms:W3CDTF">2026-06-03T23:28:34Z</dcterms:created>
  <dcterms:modified xsi:type="dcterms:W3CDTF">2026-10-04T21:06:56Z</dcterms:modified>
</cp:coreProperties>
</file>